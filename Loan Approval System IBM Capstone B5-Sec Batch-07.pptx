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72" r:id="rId2"/>
    <p:sldId id="279" r:id="rId3"/>
    <p:sldId id="267" r:id="rId4"/>
    <p:sldId id="280" r:id="rId5"/>
    <p:sldId id="285" r:id="rId6"/>
    <p:sldId id="286" r:id="rId7"/>
    <p:sldId id="262" r:id="rId8"/>
    <p:sldId id="287" r:id="rId9"/>
    <p:sldId id="281" r:id="rId10"/>
    <p:sldId id="291" r:id="rId11"/>
    <p:sldId id="290" r:id="rId12"/>
    <p:sldId id="289" r:id="rId13"/>
    <p:sldId id="283" r:id="rId14"/>
    <p:sldId id="293" r:id="rId15"/>
    <p:sldId id="301" r:id="rId16"/>
    <p:sldId id="300" r:id="rId17"/>
    <p:sldId id="294" r:id="rId18"/>
    <p:sldId id="295" r:id="rId19"/>
    <p:sldId id="298" r:id="rId20"/>
    <p:sldId id="297" r:id="rId21"/>
    <p:sldId id="296" r:id="rId22"/>
    <p:sldId id="292" r:id="rId23"/>
    <p:sldId id="299" r:id="rId24"/>
    <p:sldId id="288" r:id="rId25"/>
    <p:sldId id="27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bha challa" initials="s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3" autoAdjust="0"/>
    <p:restoredTop sz="94343" autoAdjust="0"/>
  </p:normalViewPr>
  <p:slideViewPr>
    <p:cSldViewPr showGuides="1">
      <p:cViewPr varScale="1">
        <p:scale>
          <a:sx n="73" d="100"/>
          <a:sy n="73" d="100"/>
        </p:scale>
        <p:origin x="52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4797-B579-40AF-8F83-E4702A9ED9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D178-02C0-4294-8602-787D7B816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26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4797-B579-40AF-8F83-E4702A9ED9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D178-02C0-4294-8602-787D7B816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1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4797-B579-40AF-8F83-E4702A9ED9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D178-02C0-4294-8602-787D7B816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6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4797-B579-40AF-8F83-E4702A9ED9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D178-02C0-4294-8602-787D7B816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6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4797-B579-40AF-8F83-E4702A9ED9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D178-02C0-4294-8602-787D7B816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08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4797-B579-40AF-8F83-E4702A9ED9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D178-02C0-4294-8602-787D7B816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9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4797-B579-40AF-8F83-E4702A9ED9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D178-02C0-4294-8602-787D7B816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1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4797-B579-40AF-8F83-E4702A9ED9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D178-02C0-4294-8602-787D7B816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5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4797-B579-40AF-8F83-E4702A9ED9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D178-02C0-4294-8602-787D7B816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3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4797-B579-40AF-8F83-E4702A9ED9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D178-02C0-4294-8602-787D7B816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38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4797-B579-40AF-8F83-E4702A9ED9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D178-02C0-4294-8602-787D7B816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28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04797-B579-40AF-8F83-E4702A9ED9F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9D178-02C0-4294-8602-787D7B816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66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38" y="38088"/>
            <a:ext cx="9753600" cy="17526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presentation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</a:t>
            </a:r>
            <a:r>
              <a:rPr lang="en-IN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EXPLAINABLE ENSEMBLE LEARNING MODEL FOR ROBUST LOAN APPROVAL SYSTEM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8333" y="5272585"/>
            <a:ext cx="3910868" cy="15240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8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		</a:t>
            </a:r>
            <a:endParaRPr lang="en-IN" sz="8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8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Kaluva</a:t>
            </a:r>
            <a:r>
              <a:rPr lang="en-IN" sz="8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Jaya </a:t>
            </a:r>
            <a:r>
              <a:rPr lang="en-IN" sz="8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Deepthi</a:t>
            </a:r>
            <a:r>
              <a:rPr lang="en-IN" sz="8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8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8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r>
              <a:rPr lang="en-IN" sz="8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IN" sz="8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AIML.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1555877"/>
            <a:ext cx="96012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Batch </a:t>
            </a:r>
            <a:r>
              <a:rPr lang="en-I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 – B5  </a:t>
            </a:r>
          </a:p>
          <a:p>
            <a:pPr algn="ctr"/>
            <a:endParaRPr lang="en-IN" sz="1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 err="1" smtClean="0">
                <a:solidFill>
                  <a:srgbClr val="FF0000"/>
                </a:solidFill>
              </a:rPr>
              <a:t>Allam</a:t>
            </a:r>
            <a:r>
              <a:rPr lang="en-IN" sz="2000" b="1" dirty="0" smtClean="0">
                <a:solidFill>
                  <a:srgbClr val="FF0000"/>
                </a:solidFill>
              </a:rPr>
              <a:t> </a:t>
            </a:r>
            <a:r>
              <a:rPr lang="en-IN" sz="2000" b="1" dirty="0" err="1" smtClean="0">
                <a:solidFill>
                  <a:srgbClr val="FF0000"/>
                </a:solidFill>
              </a:rPr>
              <a:t>Gowri</a:t>
            </a:r>
            <a:r>
              <a:rPr lang="en-IN" sz="2000" b="1" dirty="0" smtClean="0">
                <a:solidFill>
                  <a:srgbClr val="FF0000"/>
                </a:solidFill>
              </a:rPr>
              <a:t> Shankar                22101A010003</a:t>
            </a:r>
            <a:endParaRPr lang="en-IN" sz="2000" dirty="0" smtClean="0">
              <a:solidFill>
                <a:srgbClr val="FF0000"/>
              </a:solidFill>
            </a:endParaRPr>
          </a:p>
          <a:p>
            <a:pPr algn="ctr"/>
            <a:r>
              <a:rPr lang="en-IN" sz="2000" b="1" dirty="0" err="1" smtClean="0">
                <a:solidFill>
                  <a:srgbClr val="FF0000"/>
                </a:solidFill>
              </a:rPr>
              <a:t>Kollamgunta</a:t>
            </a:r>
            <a:r>
              <a:rPr lang="en-IN" sz="2000" b="1" dirty="0" smtClean="0">
                <a:solidFill>
                  <a:srgbClr val="FF0000"/>
                </a:solidFill>
              </a:rPr>
              <a:t> </a:t>
            </a:r>
            <a:r>
              <a:rPr lang="en-IN" sz="2000" b="1" dirty="0" err="1" smtClean="0">
                <a:solidFill>
                  <a:srgbClr val="FF0000"/>
                </a:solidFill>
              </a:rPr>
              <a:t>Rohith</a:t>
            </a:r>
            <a:r>
              <a:rPr lang="en-IN" sz="2000" b="1" dirty="0" smtClean="0">
                <a:solidFill>
                  <a:srgbClr val="FF0000"/>
                </a:solidFill>
              </a:rPr>
              <a:t>                  22101A010233</a:t>
            </a:r>
            <a:endParaRPr lang="en-IN" sz="2000" dirty="0" smtClean="0">
              <a:solidFill>
                <a:srgbClr val="FF0000"/>
              </a:solidFill>
            </a:endParaRPr>
          </a:p>
          <a:p>
            <a:pPr algn="ctr"/>
            <a:r>
              <a:rPr lang="en-IN" sz="2000" b="1" dirty="0" smtClean="0">
                <a:solidFill>
                  <a:srgbClr val="FF0000"/>
                </a:solidFill>
              </a:rPr>
              <a:t>Naga </a:t>
            </a:r>
            <a:r>
              <a:rPr lang="en-IN" sz="2000" b="1" dirty="0" err="1">
                <a:solidFill>
                  <a:srgbClr val="FF0000"/>
                </a:solidFill>
              </a:rPr>
              <a:t>Venkata</a:t>
            </a:r>
            <a:r>
              <a:rPr lang="en-IN" sz="2000" b="1" dirty="0">
                <a:solidFill>
                  <a:srgbClr val="FF0000"/>
                </a:solidFill>
              </a:rPr>
              <a:t> Sai </a:t>
            </a:r>
            <a:r>
              <a:rPr lang="en-IN" sz="2000" b="1" dirty="0" err="1">
                <a:solidFill>
                  <a:srgbClr val="FF0000"/>
                </a:solidFill>
              </a:rPr>
              <a:t>Praneeth</a:t>
            </a:r>
            <a:r>
              <a:rPr lang="en-IN" sz="2000" b="1" dirty="0">
                <a:solidFill>
                  <a:srgbClr val="FF0000"/>
                </a:solidFill>
              </a:rPr>
              <a:t>    22101A010455</a:t>
            </a:r>
            <a:endParaRPr lang="en-IN" sz="2000" dirty="0">
              <a:solidFill>
                <a:srgbClr val="FF0000"/>
              </a:solidFill>
            </a:endParaRPr>
          </a:p>
          <a:p>
            <a:pPr algn="ctr"/>
            <a:r>
              <a:rPr lang="en-IN" sz="2000" b="1" dirty="0" err="1">
                <a:solidFill>
                  <a:srgbClr val="FF0000"/>
                </a:solidFill>
              </a:rPr>
              <a:t>Sivakumar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r>
              <a:rPr lang="en-IN" sz="2000" b="1" dirty="0" err="1" smtClean="0">
                <a:solidFill>
                  <a:srgbClr val="FF0000"/>
                </a:solidFill>
              </a:rPr>
              <a:t>Likhitha</a:t>
            </a:r>
            <a:r>
              <a:rPr lang="en-IN" sz="2000" b="1" dirty="0" smtClean="0">
                <a:solidFill>
                  <a:srgbClr val="FF0000"/>
                </a:solidFill>
              </a:rPr>
              <a:t>                     22101A010582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01000" y="5385388"/>
            <a:ext cx="3505200" cy="1345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70000"/>
              </a:lnSpc>
              <a:spcBef>
                <a:spcPts val="1000"/>
              </a:spcBef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Head</a:t>
            </a:r>
          </a:p>
          <a:p>
            <a:pPr defTabSz="914400">
              <a:lnSpc>
                <a:spcPct val="70000"/>
              </a:lnSpc>
              <a:spcBef>
                <a:spcPts val="1000"/>
              </a:spcBef>
              <a:buClr>
                <a:srgbClr val="C00000"/>
              </a:buClr>
              <a:buSzPts val="2000"/>
            </a:pPr>
            <a:r>
              <a:rPr lang="en-GB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Dr. G. Sunitha,</a:t>
            </a:r>
          </a:p>
          <a:p>
            <a:pPr defTabSz="914400">
              <a:lnSpc>
                <a:spcPct val="70000"/>
              </a:lnSpc>
              <a:spcBef>
                <a:spcPts val="1000"/>
              </a:spcBef>
              <a:buClr>
                <a:srgbClr val="C00000"/>
              </a:buClr>
              <a:buSzPts val="2000"/>
            </a:pPr>
            <a:r>
              <a:rPr lang="en-GB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Professor &amp; Head, </a:t>
            </a:r>
          </a:p>
          <a:p>
            <a:pPr defTabSz="914400">
              <a:lnSpc>
                <a:spcPct val="70000"/>
              </a:lnSpc>
              <a:spcBef>
                <a:spcPts val="1000"/>
              </a:spcBef>
              <a:buClr>
                <a:srgbClr val="C00000"/>
              </a:buClr>
              <a:buSzPts val="2000"/>
            </a:pPr>
            <a:r>
              <a:rPr lang="en-GB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Dept. of AIML.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40440" y="4458332"/>
            <a:ext cx="9225397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 ( Artificial Intelligence and Machine Learning)</a:t>
            </a:r>
            <a:endParaRPr lang="en-IN" sz="2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8A70B4E1-65CB-3AFB-860A-258888E1B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1116" y="3454726"/>
            <a:ext cx="1909767" cy="9548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852F7EA-6EFF-F8E6-7EF7-E0E0966D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2EFC29-63E7-74CA-B30C-4122773AF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"/>
            <a:ext cx="10591800" cy="7620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9456" y="961066"/>
            <a:ext cx="2952328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Explanation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9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10591800" cy="7620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10591800" cy="46482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7621687-D7C3-7EF2-C7C3-83A8E0132512}"/>
              </a:ext>
            </a:extLst>
          </p:cNvPr>
          <p:cNvSpPr txBox="1"/>
          <p:nvPr/>
        </p:nvSpPr>
        <p:spPr>
          <a:xfrm>
            <a:off x="531067" y="764704"/>
            <a:ext cx="1105366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Loan approval is an important process in banks and financial institutions, where decisions are usually made based on an applicant’s financial details. </a:t>
            </a:r>
            <a:r>
              <a:rPr lang="en-IN" b="1" dirty="0"/>
              <a:t>Traditional methods often take more time and may include human errors or bias. </a:t>
            </a:r>
            <a:r>
              <a:rPr lang="en-IN" dirty="0"/>
              <a:t>Therefore, there is a need for an automated system that can make faster and more reliable decisions. In this work, a machine learning–based loan approval system is developed using applicant information such as </a:t>
            </a:r>
            <a:r>
              <a:rPr lang="en-IN" b="1" dirty="0"/>
              <a:t>income, CIBIL score, loan amount, employment status, and asset values</a:t>
            </a:r>
            <a:r>
              <a:rPr lang="en-IN" dirty="0"/>
              <a:t>. Different classification algorithms, including </a:t>
            </a:r>
            <a:r>
              <a:rPr lang="en-IN" b="1" dirty="0"/>
              <a:t>Logistic Regression, Decision Tree, Support Vector Machine, K-Nearest </a:t>
            </a:r>
            <a:r>
              <a:rPr lang="en-IN" b="1" dirty="0" err="1"/>
              <a:t>Neighbors</a:t>
            </a:r>
            <a:r>
              <a:rPr lang="en-IN" b="1" dirty="0"/>
              <a:t>, and Random Forest</a:t>
            </a:r>
            <a:r>
              <a:rPr lang="en-IN" dirty="0"/>
              <a:t>, are applied and compared. Among these models, Random Forest gives the best performance, achieving an accuracy of around 97–99% in predicting loan approval status. </a:t>
            </a:r>
            <a:r>
              <a:rPr lang="en-IN" b="1" dirty="0"/>
              <a:t>To make the system more transparent, Explainable Artificial Intelligence (XAI) techniques like SHAP </a:t>
            </a:r>
            <a:r>
              <a:rPr lang="en-IN" b="1" dirty="0" smtClean="0"/>
              <a:t>(</a:t>
            </a:r>
            <a:r>
              <a:rPr lang="en-IN" dirty="0" err="1"/>
              <a:t>SHapley</a:t>
            </a:r>
            <a:r>
              <a:rPr lang="en-IN" dirty="0"/>
              <a:t> Additive </a:t>
            </a:r>
            <a:r>
              <a:rPr lang="en-IN" dirty="0" err="1"/>
              <a:t>exPlanations</a:t>
            </a:r>
            <a:r>
              <a:rPr lang="en-IN" b="1" dirty="0" smtClean="0"/>
              <a:t>) and LIME (</a:t>
            </a:r>
            <a:r>
              <a:rPr lang="en-IN" dirty="0"/>
              <a:t>Local Interpretable Model-Agnostic Explanations</a:t>
            </a:r>
            <a:r>
              <a:rPr lang="en-IN" b="1" dirty="0" smtClean="0"/>
              <a:t>) </a:t>
            </a:r>
            <a:r>
              <a:rPr lang="en-IN" b="1" dirty="0"/>
              <a:t>are used</a:t>
            </a:r>
            <a:r>
              <a:rPr lang="en-IN" dirty="0"/>
              <a:t>. These methods help in understanding </a:t>
            </a:r>
            <a:r>
              <a:rPr lang="en-IN" b="1" dirty="0"/>
              <a:t>how the model makes decisions by showing the importance of different features</a:t>
            </a:r>
            <a:r>
              <a:rPr lang="en-IN" dirty="0"/>
              <a:t>. This improves trust and makes the system easier to use in real-world applications. The proposed system provides </a:t>
            </a:r>
            <a:r>
              <a:rPr lang="en-IN" b="1" dirty="0"/>
              <a:t>accurate, fast, and explainable loan approval decisions</a:t>
            </a:r>
            <a:r>
              <a:rPr lang="en-IN" dirty="0"/>
              <a:t>, making it useful for modern financial institutions</a:t>
            </a:r>
            <a:r>
              <a:rPr lang="en-IN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/>
              <a:t>Keywords : </a:t>
            </a:r>
            <a:r>
              <a:rPr lang="en-IN" dirty="0"/>
              <a:t>Loan Approval System, Random Forest, Explainable AI (XAI), SHAP &amp; LIME, Financial </a:t>
            </a:r>
            <a:r>
              <a:rPr lang="en-IN" dirty="0" smtClean="0"/>
              <a:t>Decision-Making.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4648619-7EB5-F13C-4E4D-3293EBE1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5E5F948-E2C5-25EC-69BC-790A0330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"/>
            <a:ext cx="10591800" cy="7620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29868BC5-8ED8-478E-F174-51DE10D654C1}"/>
              </a:ext>
            </a:extLst>
          </p:cNvPr>
          <p:cNvSpPr txBox="1"/>
          <p:nvPr/>
        </p:nvSpPr>
        <p:spPr>
          <a:xfrm>
            <a:off x="914120" y="908720"/>
            <a:ext cx="1028755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Loan Approval </a:t>
            </a:r>
            <a:r>
              <a:rPr lang="en-IN" sz="2000" b="1" dirty="0" smtClean="0"/>
              <a:t>Process </a:t>
            </a:r>
            <a:r>
              <a:rPr lang="en-IN" sz="2000" dirty="0"/>
              <a:t>(Traditional Approach)</a:t>
            </a:r>
            <a:r>
              <a:rPr lang="en-US" sz="2000" b="1" dirty="0" smtClean="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Relies on human intervention and rule-based systems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Loan evaluation is not fully automated. Bank officers review applications using predefined rules and their </a:t>
            </a:r>
            <a:r>
              <a:rPr lang="en-US" sz="2000" dirty="0" smtClean="0"/>
              <a:t>judgment</a:t>
            </a:r>
          </a:p>
          <a:p>
            <a:endParaRPr lang="en-US" sz="2000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 smtClean="0"/>
              <a:t>Time-consuming </a:t>
            </a:r>
            <a:r>
              <a:rPr lang="en-US" sz="2000" b="1" dirty="0"/>
              <a:t>and inefficient process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Human-involved verification and multi-level approval workflows lead to delays in processing loan applications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Prone to human errors and bias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Decisions may vary from one officer to another, leading to inconsistencies and potential unfairness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Difficulty in handling increasing applications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As the number of loan applications grows, the traditional approach struggles to maintain speed, accuracy, and consistency</a:t>
            </a:r>
            <a:r>
              <a:rPr lang="en-US" sz="2000" dirty="0" smtClean="0"/>
              <a:t>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E3EF8811-D238-AE15-49AB-E2BCD66A7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2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B7223CB-E1C7-37EC-D0B6-A1CB1B9B7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E3D7A4-3FB3-FD4C-E7C8-F22F59EA8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816" y="164059"/>
            <a:ext cx="10591800" cy="7620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B262DF8-3A71-7CB5-9A4F-6962B8C57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1165" y="5116220"/>
            <a:ext cx="3036061" cy="10929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500B991-BC32-93B2-B7B4-437732531C09}"/>
              </a:ext>
            </a:extLst>
          </p:cNvPr>
          <p:cNvSpPr txBox="1"/>
          <p:nvPr/>
        </p:nvSpPr>
        <p:spPr>
          <a:xfrm>
            <a:off x="729816" y="1340768"/>
            <a:ext cx="1099254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Need for Machine </a:t>
            </a:r>
            <a:r>
              <a:rPr lang="en-US" sz="2000" b="1" dirty="0" smtClean="0"/>
              <a:t>Learning Based </a:t>
            </a:r>
            <a:r>
              <a:rPr lang="en-US" sz="2000" b="1" dirty="0"/>
              <a:t>Decision </a:t>
            </a:r>
            <a:r>
              <a:rPr lang="en-US" sz="2000" b="1" dirty="0" smtClean="0"/>
              <a:t>System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Replace rule-based decision-making with data-driven </a:t>
            </a:r>
            <a:r>
              <a:rPr lang="en-US" sz="2000" dirty="0" smtClean="0"/>
              <a:t>models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Improve accuracy and consistency in </a:t>
            </a:r>
            <a:r>
              <a:rPr lang="en-US" sz="2000" dirty="0" smtClean="0"/>
              <a:t>predictions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Reduce dependency on manual </a:t>
            </a:r>
            <a:r>
              <a:rPr lang="en-US" sz="2000" dirty="0" smtClean="0"/>
              <a:t>judgment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Enable scalable processing of large datasets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48952760-FCD7-5259-4743-E7BFA2B4A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63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7BC77C1-9BC8-987F-12F4-35EFAFE9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79C799-5797-B763-432A-51BBA870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"/>
            <a:ext cx="10591800" cy="7620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6006B1E-8A09-9B4F-269C-4F690B21F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2425" y="4413685"/>
            <a:ext cx="3036061" cy="10929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1F00CBA-F858-36F7-B581-575F9051A922}"/>
              </a:ext>
            </a:extLst>
          </p:cNvPr>
          <p:cNvSpPr txBox="1"/>
          <p:nvPr/>
        </p:nvSpPr>
        <p:spPr>
          <a:xfrm>
            <a:off x="785394" y="1252916"/>
            <a:ext cx="941506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Our Solution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Proposes a machine </a:t>
            </a:r>
            <a:r>
              <a:rPr lang="en-IN" sz="2000" dirty="0" smtClean="0"/>
              <a:t>learning driven </a:t>
            </a:r>
            <a:r>
              <a:rPr lang="en-IN" sz="2000" dirty="0"/>
              <a:t>loan approval framework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Performs comparative analysis of multiple classification algorithms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Selects the optimal model based on evaluation metrics (~98% accuracy)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Incorporates Explainable AI (SHAP(</a:t>
            </a:r>
            <a:r>
              <a:rPr lang="en-IN" sz="2000" dirty="0" err="1"/>
              <a:t>SHapley</a:t>
            </a:r>
            <a:r>
              <a:rPr lang="en-IN" sz="2000" dirty="0"/>
              <a:t> Additive </a:t>
            </a:r>
            <a:r>
              <a:rPr lang="en-IN" sz="2000" dirty="0" err="1"/>
              <a:t>exPlanations</a:t>
            </a:r>
            <a:r>
              <a:rPr lang="en-IN" sz="2000" dirty="0"/>
              <a:t>) &amp; LIME(Local Interpretable Model-Agnostic Explanations)) for model interpretability and transparency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754215F5-1144-358B-FA0D-50577DCC6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816" y="4009181"/>
            <a:ext cx="4553585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9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129DDE3D-B864-1FBF-0315-47F76A0296CC}"/>
              </a:ext>
            </a:extLst>
          </p:cNvPr>
          <p:cNvSpPr txBox="1"/>
          <p:nvPr/>
        </p:nvSpPr>
        <p:spPr>
          <a:xfrm>
            <a:off x="2326558" y="3333135"/>
            <a:ext cx="3100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CNN, deep belief network</a:t>
            </a:r>
          </a:p>
          <a:p>
            <a:r>
              <a:rPr lang="en-IN" dirty="0"/>
              <a:t>(DBN)</a:t>
            </a:r>
            <a:br>
              <a:rPr lang="en-IN" dirty="0"/>
            </a:br>
            <a:r>
              <a:rPr lang="en-IN" dirty="0"/>
              <a:t>ResNet-50</a:t>
            </a:r>
            <a:br>
              <a:rPr lang="en-IN" dirty="0"/>
            </a:br>
            <a:r>
              <a:rPr lang="en-IN" dirty="0"/>
              <a:t>RF, SVM, DNN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0E8DBFD-5F92-0F24-0AC7-4176F8F90AFA}"/>
              </a:ext>
            </a:extLst>
          </p:cNvPr>
          <p:cNvSpPr txBox="1"/>
          <p:nvPr/>
        </p:nvSpPr>
        <p:spPr>
          <a:xfrm>
            <a:off x="5781366" y="3333135"/>
            <a:ext cx="2772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84%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71%</a:t>
            </a:r>
            <a:br>
              <a:rPr lang="en-IN" dirty="0"/>
            </a:br>
            <a:r>
              <a:rPr lang="en-IN" dirty="0"/>
              <a:t>86.13%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741D0B9-9896-A369-2856-B84E4F799539}"/>
              </a:ext>
            </a:extLst>
          </p:cNvPr>
          <p:cNvSpPr txBox="1"/>
          <p:nvPr/>
        </p:nvSpPr>
        <p:spPr>
          <a:xfrm>
            <a:off x="8701548" y="3333135"/>
            <a:ext cx="2635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 CNN + Optic Disc / Cup Segmentation</a:t>
            </a:r>
            <a:endParaRPr lang="en-IN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="" xmlns:a16="http://schemas.microsoft.com/office/drawing/2014/main" id="{D21F5D88-6BA0-08F2-9FD2-881795F01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446809"/>
              </p:ext>
            </p:extLst>
          </p:nvPr>
        </p:nvGraphicFramePr>
        <p:xfrm>
          <a:off x="407368" y="880655"/>
          <a:ext cx="11377264" cy="5551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300">
                  <a:extLst>
                    <a:ext uri="{9D8B030D-6E8A-4147-A177-3AD203B41FA5}">
                      <a16:colId xmlns="" xmlns:a16="http://schemas.microsoft.com/office/drawing/2014/main" val="4293631367"/>
                    </a:ext>
                  </a:extLst>
                </a:gridCol>
                <a:gridCol w="2989661">
                  <a:extLst>
                    <a:ext uri="{9D8B030D-6E8A-4147-A177-3AD203B41FA5}">
                      <a16:colId xmlns="" xmlns:a16="http://schemas.microsoft.com/office/drawing/2014/main" val="3055426101"/>
                    </a:ext>
                  </a:extLst>
                </a:gridCol>
                <a:gridCol w="2486421">
                  <a:extLst>
                    <a:ext uri="{9D8B030D-6E8A-4147-A177-3AD203B41FA5}">
                      <a16:colId xmlns="" xmlns:a16="http://schemas.microsoft.com/office/drawing/2014/main" val="971605383"/>
                    </a:ext>
                  </a:extLst>
                </a:gridCol>
                <a:gridCol w="5198882">
                  <a:extLst>
                    <a:ext uri="{9D8B030D-6E8A-4147-A177-3AD203B41FA5}">
                      <a16:colId xmlns="" xmlns:a16="http://schemas.microsoft.com/office/drawing/2014/main" val="4004320101"/>
                    </a:ext>
                  </a:extLst>
                </a:gridCol>
              </a:tblGrid>
              <a:tr h="430649">
                <a:tc>
                  <a:txBody>
                    <a:bodyPr/>
                    <a:lstStyle/>
                    <a:p>
                      <a:r>
                        <a:rPr lang="en-IN" b="1" dirty="0" err="1"/>
                        <a:t>S.No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190917904"/>
                  </a:ext>
                </a:extLst>
              </a:tr>
              <a:tr h="694078"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Responsible AI in Loan Approval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Applied Explainable AI techniques to improve transparency in loan decision-making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focus on model accuracy and performance comparison</a:t>
                      </a:r>
                    </a:p>
                  </a:txBody>
                  <a:tcPr anchor="ctr"/>
                </a:tc>
              </a:tr>
              <a:tr h="533906"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Enhanced Loan Approval Prediction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Used Machine Learning models for improving prediction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Lacks interpretability and explanation of decisions</a:t>
                      </a:r>
                    </a:p>
                  </a:txBody>
                  <a:tcPr anchor="ctr"/>
                </a:tc>
              </a:tr>
              <a:tr h="533906"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Process Evaluation of Loan Approval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Analyzed traditional loan approval workflows and suggested improvements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 implementation of AI or ML techniques</a:t>
                      </a:r>
                    </a:p>
                  </a:txBody>
                  <a:tcPr anchor="ctr"/>
                </a:tc>
              </a:tr>
              <a:tr h="533906"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Explainable AI for Loan Approval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Integrated XAI methods like SHAP and LIME with ML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Computational complexity and increased processing time</a:t>
                      </a:r>
                    </a:p>
                  </a:txBody>
                  <a:tcPr anchor="ctr"/>
                </a:tc>
              </a:tr>
              <a:tr h="533906">
                <a:tc>
                  <a:txBody>
                    <a:bodyPr/>
                    <a:lstStyle/>
                    <a:p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AI-based Credit Scoring Models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Developed AI models for credit risk assessment and financial inclusion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 suffer from bias due to data </a:t>
                      </a:r>
                      <a:r>
                        <a:rPr lang="en-US" dirty="0" smtClean="0"/>
                        <a:t>imbalance</a:t>
                      </a:r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C93FF75-1ABD-DB4D-AD66-1EAB43FFADAD}"/>
              </a:ext>
            </a:extLst>
          </p:cNvPr>
          <p:cNvSpPr txBox="1"/>
          <p:nvPr/>
        </p:nvSpPr>
        <p:spPr>
          <a:xfrm>
            <a:off x="551384" y="-46653"/>
            <a:ext cx="11089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Study</a:t>
            </a:r>
          </a:p>
        </p:txBody>
      </p:sp>
    </p:spTree>
    <p:extLst>
      <p:ext uri="{BB962C8B-B14F-4D97-AF65-F5344CB8AC3E}">
        <p14:creationId xmlns:p14="http://schemas.microsoft.com/office/powerpoint/2010/main" val="316542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9F02CAD7-37F9-EEDE-4CA8-D3E13D551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321013"/>
              </p:ext>
            </p:extLst>
          </p:nvPr>
        </p:nvGraphicFramePr>
        <p:xfrm>
          <a:off x="407368" y="980728"/>
          <a:ext cx="11197244" cy="5514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484">
                  <a:extLst>
                    <a:ext uri="{9D8B030D-6E8A-4147-A177-3AD203B41FA5}">
                      <a16:colId xmlns="" xmlns:a16="http://schemas.microsoft.com/office/drawing/2014/main" val="2483331623"/>
                    </a:ext>
                  </a:extLst>
                </a:gridCol>
                <a:gridCol w="3539774">
                  <a:extLst>
                    <a:ext uri="{9D8B030D-6E8A-4147-A177-3AD203B41FA5}">
                      <a16:colId xmlns="" xmlns:a16="http://schemas.microsoft.com/office/drawing/2014/main" val="4120334396"/>
                    </a:ext>
                  </a:extLst>
                </a:gridCol>
                <a:gridCol w="3810675">
                  <a:extLst>
                    <a:ext uri="{9D8B030D-6E8A-4147-A177-3AD203B41FA5}">
                      <a16:colId xmlns="" xmlns:a16="http://schemas.microsoft.com/office/drawing/2014/main" val="2745900062"/>
                    </a:ext>
                  </a:extLst>
                </a:gridCol>
                <a:gridCol w="2799311">
                  <a:extLst>
                    <a:ext uri="{9D8B030D-6E8A-4147-A177-3AD203B41FA5}">
                      <a16:colId xmlns="" xmlns:a16="http://schemas.microsoft.com/office/drawing/2014/main" val="957718223"/>
                    </a:ext>
                  </a:extLst>
                </a:gridCol>
              </a:tblGrid>
              <a:tr h="606224">
                <a:tc>
                  <a:txBody>
                    <a:bodyPr/>
                    <a:lstStyle/>
                    <a:p>
                      <a:r>
                        <a:rPr lang="en-IN" b="1" dirty="0" err="1" smtClean="0"/>
                        <a:t>S.No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773862882"/>
                  </a:ext>
                </a:extLst>
              </a:tr>
              <a:tr h="833936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Loan Approval Prediction using ML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Used classification algorithms like Logistic Regression and Decision Trees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accuracy with complex datasets</a:t>
                      </a:r>
                    </a:p>
                  </a:txBody>
                  <a:tcPr anchor="ctr"/>
                </a:tc>
              </a:tr>
              <a:tr h="792088">
                <a:tc>
                  <a:txBody>
                    <a:bodyPr/>
                    <a:lstStyle/>
                    <a:p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Neuro-based AI Model (2010)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Used Neural Networks for loan decision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Lack of </a:t>
                      </a:r>
                      <a:r>
                        <a:rPr lang="en-US" dirty="0" smtClean="0"/>
                        <a:t>interpretability</a:t>
                      </a:r>
                      <a:endParaRPr lang="en-US" dirty="0"/>
                    </a:p>
                  </a:txBody>
                  <a:tcPr anchor="ctr"/>
                </a:tc>
              </a:tr>
              <a:tr h="606224">
                <a:tc>
                  <a:txBody>
                    <a:bodyPr/>
                    <a:lstStyle/>
                    <a:p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XAI for Credit Scoring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Combined ML models with Explainable AI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Requires high computational resources</a:t>
                      </a:r>
                    </a:p>
                  </a:txBody>
                  <a:tcPr anchor="ctr"/>
                </a:tc>
              </a:tr>
              <a:tr h="825944">
                <a:tc>
                  <a:txBody>
                    <a:bodyPr/>
                    <a:lstStyle/>
                    <a:p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AI-Driven Loan Approval Model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Implemented ML-based automated loan approval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 dataset and scalability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242324218"/>
                  </a:ext>
                </a:extLst>
              </a:tr>
              <a:tr h="1816662">
                <a:tc>
                  <a:txBody>
                    <a:bodyPr/>
                    <a:lstStyle/>
                    <a:p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Future of Loan Approvals with XAI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Focused on integrating XAI into financial decision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Still in early-stage adoption, limited real-world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4261422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08B99BC-CBCB-2BD6-C8B9-A53D5BFB2161}"/>
              </a:ext>
            </a:extLst>
          </p:cNvPr>
          <p:cNvSpPr txBox="1"/>
          <p:nvPr/>
        </p:nvSpPr>
        <p:spPr>
          <a:xfrm>
            <a:off x="780661" y="185394"/>
            <a:ext cx="10657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Study</a:t>
            </a:r>
          </a:p>
        </p:txBody>
      </p:sp>
    </p:spTree>
    <p:extLst>
      <p:ext uri="{BB962C8B-B14F-4D97-AF65-F5344CB8AC3E}">
        <p14:creationId xmlns:p14="http://schemas.microsoft.com/office/powerpoint/2010/main" val="103269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7D11317-A5DE-EFE8-332A-997239C43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40CD10-BCA2-2B07-AEED-40F992255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76200"/>
            <a:ext cx="10591800" cy="7620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A182284-AD58-92D4-CDDF-66B09976D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146" y="1484784"/>
            <a:ext cx="10480476" cy="1722512"/>
          </a:xfrm>
        </p:spPr>
        <p:txBody>
          <a:bodyPr>
            <a:no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“Existing loan approval systems rely on human intervention and rule-based or basic machine learning approaches, leading to inefficiencies, inconsistency, and potential bias. They also struggle to handle large volumes of applications and often lack transparency in decision-making, creating a need for accurate, fast, and explainable solutions in financial institutions.”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="" xmlns:a16="http://schemas.microsoft.com/office/drawing/2014/main" id="{FFF8A881-85B6-6663-24F9-69E927760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94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61D534-F276-C763-14E6-5B5144447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765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895C5A5-03C6-7BD5-FF33-03EA63CEE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800"/>
            <a:ext cx="10515600" cy="454816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Develop </a:t>
            </a:r>
            <a:r>
              <a:rPr lang="en-US" sz="2000" dirty="0"/>
              <a:t>a </a:t>
            </a:r>
            <a:r>
              <a:rPr lang="en-US" sz="2000" b="1" dirty="0"/>
              <a:t>machine learning–based loan approval system</a:t>
            </a:r>
            <a:r>
              <a:rPr lang="en-US" sz="2000" dirty="0"/>
              <a:t> for accurate decision-making </a:t>
            </a:r>
          </a:p>
          <a:p>
            <a:r>
              <a:rPr lang="en-US" sz="2000" dirty="0"/>
              <a:t>Improve </a:t>
            </a:r>
            <a:r>
              <a:rPr lang="en-US" sz="2000" b="1" dirty="0"/>
              <a:t>efficiency and speed</a:t>
            </a:r>
            <a:r>
              <a:rPr lang="en-US" sz="2000" dirty="0"/>
              <a:t> of the loan approval process </a:t>
            </a:r>
          </a:p>
          <a:p>
            <a:r>
              <a:rPr lang="en-US" sz="2000" dirty="0"/>
              <a:t>Ensure </a:t>
            </a:r>
            <a:r>
              <a:rPr lang="en-US" sz="2000" b="1" dirty="0"/>
              <a:t>consistency and reduce human bias</a:t>
            </a:r>
            <a:r>
              <a:rPr lang="en-US" sz="2000" dirty="0"/>
              <a:t> through data-driven predictions </a:t>
            </a:r>
          </a:p>
          <a:p>
            <a:r>
              <a:rPr lang="en-US" sz="2000" dirty="0"/>
              <a:t>Identify the </a:t>
            </a:r>
            <a:r>
              <a:rPr lang="en-US" sz="2000" b="1" dirty="0"/>
              <a:t>most effective model</a:t>
            </a:r>
            <a:r>
              <a:rPr lang="en-US" sz="2000" dirty="0"/>
              <a:t> by comparing multiple algorithms </a:t>
            </a:r>
          </a:p>
          <a:p>
            <a:r>
              <a:rPr lang="en-US" sz="2000" dirty="0"/>
              <a:t>Enhance </a:t>
            </a:r>
            <a:r>
              <a:rPr lang="en-US" sz="2000" b="1" dirty="0"/>
              <a:t>transparency</a:t>
            </a:r>
            <a:r>
              <a:rPr lang="en-US" sz="2000" dirty="0"/>
              <a:t> using Explainable AI techniques (SHAP &amp; LIME) </a:t>
            </a:r>
          </a:p>
          <a:p>
            <a:r>
              <a:rPr lang="en-US" sz="2000" dirty="0"/>
              <a:t>Enable </a:t>
            </a:r>
            <a:r>
              <a:rPr lang="en-US" sz="2000" b="1" dirty="0"/>
              <a:t>scalable processing</a:t>
            </a:r>
            <a:r>
              <a:rPr lang="en-US" sz="2000" dirty="0"/>
              <a:t> of large volumes of loan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0680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1F9D754-B8BC-5D31-CBC9-5932F4A8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827A43-CA9B-83DF-19FB-69EA46DE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4800" y="-213502"/>
            <a:ext cx="10802416" cy="1335683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Existing Methodologies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67E7123-2993-2F81-DC8C-6D813356BFA9}"/>
              </a:ext>
            </a:extLst>
          </p:cNvPr>
          <p:cNvSpPr txBox="1"/>
          <p:nvPr/>
        </p:nvSpPr>
        <p:spPr>
          <a:xfrm>
            <a:off x="767408" y="1268760"/>
            <a:ext cx="10802416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Existing Methodologies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Loan approval involves </a:t>
            </a:r>
            <a:r>
              <a:rPr lang="en-US" b="1" dirty="0"/>
              <a:t>human intervention along with rule-based systems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Decisions are based on key factors such as: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Income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Credit history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Employment status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Uses </a:t>
            </a:r>
            <a:r>
              <a:rPr lang="en-US" b="1" dirty="0"/>
              <a:t>traditional statistical and scoring models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Relies significantly on </a:t>
            </a:r>
            <a:r>
              <a:rPr lang="en-US" b="1" dirty="0"/>
              <a:t>human judgment and predefined rules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Limited use of </a:t>
            </a:r>
            <a:r>
              <a:rPr lang="en-US" b="1" dirty="0"/>
              <a:t>advanced data-driven and explainable techniques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16" y="2348880"/>
            <a:ext cx="3683054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30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0C4DD44-012B-9D0F-39F4-929445C09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Methodology Drawbacks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9FF52819-36F1-6C8D-1C7D-4C8A45D9B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792"/>
            <a:ext cx="10515600" cy="4351338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Time-consuming </a:t>
            </a:r>
            <a:r>
              <a:rPr lang="en-US" sz="2000" b="1" dirty="0"/>
              <a:t>and inefficient</a:t>
            </a:r>
            <a:r>
              <a:rPr lang="en-US" sz="2000" dirty="0"/>
              <a:t> due to human involvement and multiple processing steps </a:t>
            </a:r>
          </a:p>
          <a:p>
            <a:r>
              <a:rPr lang="en-US" sz="2000" b="1" dirty="0"/>
              <a:t>Prone to human errors and bias</a:t>
            </a:r>
            <a:r>
              <a:rPr lang="en-US" sz="2000" dirty="0"/>
              <a:t>, affecting fairness and reliability </a:t>
            </a:r>
          </a:p>
          <a:p>
            <a:r>
              <a:rPr lang="en-US" sz="2000" b="1" dirty="0"/>
              <a:t>Difficulty in handling large volumes</a:t>
            </a:r>
            <a:r>
              <a:rPr lang="en-US" sz="2000" dirty="0"/>
              <a:t> of loan applications efficiently </a:t>
            </a:r>
          </a:p>
          <a:p>
            <a:r>
              <a:rPr lang="en-US" sz="2000" b="1" dirty="0"/>
              <a:t>Inconsistent decision-making</a:t>
            </a:r>
            <a:r>
              <a:rPr lang="en-US" sz="2000" dirty="0"/>
              <a:t> due to variation in human judgment </a:t>
            </a:r>
          </a:p>
          <a:p>
            <a:r>
              <a:rPr lang="en-US" sz="2000" b="1" dirty="0"/>
              <a:t>Lack of transparency</a:t>
            </a:r>
            <a:r>
              <a:rPr lang="en-US" sz="2000" dirty="0"/>
              <a:t> in understanding how decisions are made </a:t>
            </a:r>
          </a:p>
          <a:p>
            <a:r>
              <a:rPr lang="en-US" sz="2000" b="1" dirty="0"/>
              <a:t>Limited scalability</a:t>
            </a:r>
            <a:r>
              <a:rPr lang="en-US" sz="2000" dirty="0"/>
              <a:t> for </a:t>
            </a:r>
            <a:r>
              <a:rPr lang="en-US" sz="2000" dirty="0" smtClean="0"/>
              <a:t>modern high-volume </a:t>
            </a:r>
            <a:r>
              <a:rPr lang="en-US" sz="2000" dirty="0"/>
              <a:t>financial environments</a:t>
            </a:r>
          </a:p>
        </p:txBody>
      </p:sp>
    </p:spTree>
    <p:extLst>
      <p:ext uri="{BB962C8B-B14F-4D97-AF65-F5344CB8AC3E}">
        <p14:creationId xmlns:p14="http://schemas.microsoft.com/office/powerpoint/2010/main" val="44124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66DE35-10C4-31FB-33B0-970D77E3C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260648"/>
            <a:ext cx="10515600" cy="43204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74" b="1664"/>
          <a:stretch/>
        </p:blipFill>
        <p:spPr>
          <a:xfrm>
            <a:off x="407368" y="457200"/>
            <a:ext cx="10513168" cy="628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8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D69EB9-8307-C23F-ED70-8C87D6EC8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765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Explanation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9376" y="1340768"/>
            <a:ext cx="1123324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1. Input Data Module</a:t>
            </a:r>
          </a:p>
          <a:p>
            <a:pPr algn="just"/>
            <a:r>
              <a:rPr lang="en-US" sz="2000" dirty="0"/>
              <a:t>Collects applicant details such as income, CIBIL score, loan amount, employment status, and assets to enable </a:t>
            </a:r>
            <a:r>
              <a:rPr lang="en-US" sz="2000" b="1" dirty="0"/>
              <a:t>data-driven decision-making</a:t>
            </a:r>
            <a:r>
              <a:rPr lang="en-US" sz="2000" dirty="0" smtClean="0"/>
              <a:t>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2. Data Preprocessing Module</a:t>
            </a:r>
          </a:p>
          <a:p>
            <a:pPr algn="just"/>
            <a:r>
              <a:rPr lang="en-US" sz="2000" dirty="0"/>
              <a:t>Cleans and prepares the data by handling missing values, encoding categorical variables, and scaling features to ensure </a:t>
            </a:r>
            <a:r>
              <a:rPr lang="en-US" sz="2000" b="1" dirty="0"/>
              <a:t>accuracy and consistency</a:t>
            </a:r>
            <a:r>
              <a:rPr lang="en-US" sz="2000" dirty="0" smtClean="0"/>
              <a:t>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3. Dataset Splitting Module</a:t>
            </a:r>
          </a:p>
          <a:p>
            <a:pPr algn="just"/>
            <a:r>
              <a:rPr lang="en-US" sz="2000" dirty="0"/>
              <a:t>Divides the dataset into training (80%) and testing (20%) sets to ensure the model can </a:t>
            </a:r>
            <a:r>
              <a:rPr lang="en-US" sz="2000" b="1" dirty="0"/>
              <a:t>generalize well to new data</a:t>
            </a:r>
            <a:r>
              <a:rPr lang="en-US" sz="2000" dirty="0" smtClean="0"/>
              <a:t>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 smtClean="0"/>
              <a:t>4</a:t>
            </a:r>
            <a:r>
              <a:rPr lang="en-US" sz="2000" b="1" dirty="0"/>
              <a:t>. Model Training Module</a:t>
            </a:r>
          </a:p>
          <a:p>
            <a:pPr algn="just"/>
            <a:r>
              <a:rPr lang="en-US" sz="2000" dirty="0"/>
              <a:t>Trains multiple machine learning algorithms (Logistic Regression, Decision Tree, SVM, KNN, Random Forest) to </a:t>
            </a:r>
            <a:r>
              <a:rPr lang="en-US" sz="2000" b="1" dirty="0"/>
              <a:t>learn patterns and reduce bias</a:t>
            </a:r>
            <a:r>
              <a:rPr lang="en-US" sz="2000" dirty="0" smtClean="0"/>
              <a:t>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2077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D69EB9-8307-C23F-ED70-8C87D6EC8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765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Explanation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1F8965FB-E4F8-699B-1382-0D95CE082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415413"/>
            <a:ext cx="10730408" cy="447615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/>
              <a:t>5. Model Evaluation Module</a:t>
            </a:r>
          </a:p>
          <a:p>
            <a:pPr marL="0" indent="0" algn="just">
              <a:buNone/>
            </a:pPr>
            <a:r>
              <a:rPr lang="en-US" sz="2000" dirty="0"/>
              <a:t>Evaluates models using metrics like accuracy, precision, recall, and F1-score to ensure </a:t>
            </a:r>
            <a:r>
              <a:rPr lang="en-US" sz="2000" b="1" dirty="0"/>
              <a:t>reliable and consistent performance</a:t>
            </a:r>
            <a:r>
              <a:rPr lang="en-US" sz="2000" dirty="0" smtClean="0"/>
              <a:t>.</a:t>
            </a:r>
            <a:endParaRPr lang="en-US" sz="2000" b="1" dirty="0" smtClean="0"/>
          </a:p>
          <a:p>
            <a:pPr marL="0" indent="0" algn="just">
              <a:buNone/>
            </a:pPr>
            <a:r>
              <a:rPr lang="en-US" sz="2000" b="1" dirty="0" smtClean="0"/>
              <a:t>6</a:t>
            </a:r>
            <a:r>
              <a:rPr lang="en-US" sz="2000" b="1" dirty="0"/>
              <a:t>. Best Model Selection Module</a:t>
            </a:r>
          </a:p>
          <a:p>
            <a:pPr marL="0" indent="0" algn="just">
              <a:buNone/>
            </a:pPr>
            <a:r>
              <a:rPr lang="en-US" sz="2000" dirty="0"/>
              <a:t>Selects the best-performing model (Random Forest) based on evaluation results for </a:t>
            </a:r>
            <a:r>
              <a:rPr lang="en-US" sz="2000" b="1" dirty="0"/>
              <a:t>optimal prediction accuracy</a:t>
            </a:r>
            <a:r>
              <a:rPr lang="en-US" sz="2000" dirty="0" smtClean="0"/>
              <a:t>.</a:t>
            </a:r>
          </a:p>
          <a:p>
            <a:pPr marL="0" indent="0" algn="just">
              <a:buNone/>
            </a:pPr>
            <a:r>
              <a:rPr lang="en-US" sz="2000" b="1" dirty="0"/>
              <a:t>7. Prediction Module</a:t>
            </a:r>
          </a:p>
          <a:p>
            <a:pPr marL="0" indent="0" algn="just">
              <a:buNone/>
            </a:pPr>
            <a:r>
              <a:rPr lang="en-US" sz="2000" dirty="0"/>
              <a:t>Uses the selected model to make </a:t>
            </a:r>
            <a:r>
              <a:rPr lang="en-US" sz="2000" b="1" dirty="0"/>
              <a:t>fast and efficient loan approval decisions</a:t>
            </a:r>
            <a:r>
              <a:rPr lang="en-US" sz="2000" dirty="0"/>
              <a:t> (Approved/Rejected).</a:t>
            </a:r>
          </a:p>
          <a:p>
            <a:pPr marL="0" indent="0" algn="just">
              <a:buNone/>
            </a:pPr>
            <a:r>
              <a:rPr lang="en-US" sz="2000" b="1" dirty="0"/>
              <a:t>8. Explainable AI Module (SHAP &amp; LIME)</a:t>
            </a:r>
          </a:p>
          <a:p>
            <a:pPr marL="0" indent="0" algn="just">
              <a:buNone/>
            </a:pPr>
            <a:r>
              <a:rPr lang="en-US" sz="2000" dirty="0"/>
              <a:t>Provides </a:t>
            </a:r>
            <a:r>
              <a:rPr lang="en-US" sz="2000" b="1" dirty="0"/>
              <a:t>transparent and interpretable explanations</a:t>
            </a:r>
            <a:r>
              <a:rPr lang="en-US" sz="2000" dirty="0"/>
              <a:t> by showing how each feature influences the prediction.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64605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D69EB9-8307-C23F-ED70-8C87D6EC8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765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 Specifications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1F8965FB-E4F8-699B-1382-0D95CE082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700808"/>
            <a:ext cx="10730408" cy="447615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Hardware Requirements:</a:t>
            </a:r>
          </a:p>
          <a:p>
            <a:r>
              <a:rPr lang="en-IN" sz="2000" dirty="0"/>
              <a:t>Processor: Intel i5 / i7 or higher </a:t>
            </a:r>
          </a:p>
          <a:p>
            <a:r>
              <a:rPr lang="en-IN" sz="2000" dirty="0"/>
              <a:t>RAM: Minimum 8 GB (16 GB recommended) </a:t>
            </a:r>
          </a:p>
          <a:p>
            <a:r>
              <a:rPr lang="en-IN" sz="2000" dirty="0"/>
              <a:t>Storage: 256 GB SSD / 500 GB </a:t>
            </a:r>
            <a:r>
              <a:rPr lang="en-IN" sz="2000" dirty="0" smtClean="0"/>
              <a:t>HDD</a:t>
            </a:r>
          </a:p>
          <a:p>
            <a:r>
              <a:rPr lang="en-IN" sz="2000" dirty="0"/>
              <a:t>System Type: 64-bit Operating </a:t>
            </a:r>
            <a:r>
              <a:rPr lang="en-IN" sz="2000" dirty="0" smtClean="0"/>
              <a:t>System</a:t>
            </a:r>
          </a:p>
          <a:p>
            <a:r>
              <a:rPr lang="en-IN" sz="2000" dirty="0"/>
              <a:t>Device: Laptop/Desktop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0395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0C8465E-908D-33B2-34A8-D8F87A958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620688"/>
            <a:ext cx="10658400" cy="555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Software Requirements:</a:t>
            </a:r>
          </a:p>
          <a:p>
            <a:r>
              <a:rPr lang="en-IN" sz="2000" b="1" dirty="0"/>
              <a:t>Programming Language:</a:t>
            </a:r>
            <a:r>
              <a:rPr lang="en-IN" sz="2000" dirty="0"/>
              <a:t> </a:t>
            </a:r>
            <a:r>
              <a:rPr lang="en-IN" sz="2000" dirty="0" smtClean="0"/>
              <a:t>Python</a:t>
            </a:r>
          </a:p>
          <a:p>
            <a:r>
              <a:rPr lang="en-IN" sz="2000" b="1" dirty="0" smtClean="0"/>
              <a:t>Environment: </a:t>
            </a:r>
            <a:r>
              <a:rPr lang="en-IN" sz="2000" dirty="0" err="1" smtClean="0"/>
              <a:t>Jupyter</a:t>
            </a:r>
            <a:r>
              <a:rPr lang="en-IN" sz="2000" dirty="0" smtClean="0"/>
              <a:t> </a:t>
            </a:r>
            <a:r>
              <a:rPr lang="en-IN" sz="2000" dirty="0"/>
              <a:t>Notebook / Google </a:t>
            </a:r>
            <a:r>
              <a:rPr lang="en-IN" sz="2000" dirty="0" err="1"/>
              <a:t>Colab</a:t>
            </a:r>
            <a:r>
              <a:rPr lang="en-IN" sz="2000" dirty="0" smtClean="0"/>
              <a:t> </a:t>
            </a:r>
            <a:endParaRPr lang="en-IN" sz="2000" dirty="0"/>
          </a:p>
          <a:p>
            <a:r>
              <a:rPr lang="en-IN" sz="2000" b="1" dirty="0" smtClean="0"/>
              <a:t>Libraries</a:t>
            </a:r>
            <a:r>
              <a:rPr lang="en-IN" sz="2000" b="1" dirty="0"/>
              <a:t>:</a:t>
            </a:r>
            <a:r>
              <a:rPr lang="en-IN" sz="2000" dirty="0"/>
              <a:t> </a:t>
            </a:r>
          </a:p>
          <a:p>
            <a:pPr lvl="1"/>
            <a:r>
              <a:rPr lang="en-IN" sz="2000" dirty="0" err="1" smtClean="0"/>
              <a:t>NumPy</a:t>
            </a:r>
            <a:r>
              <a:rPr lang="en-IN" sz="2000" dirty="0" smtClean="0"/>
              <a:t> </a:t>
            </a:r>
          </a:p>
          <a:p>
            <a:pPr lvl="1"/>
            <a:r>
              <a:rPr lang="en-IN" sz="2000" dirty="0" smtClean="0"/>
              <a:t>Pandas</a:t>
            </a:r>
            <a:endParaRPr lang="en-IN" sz="2000" dirty="0"/>
          </a:p>
          <a:p>
            <a:pPr lvl="1"/>
            <a:r>
              <a:rPr lang="en-IN" sz="2000" dirty="0" err="1" smtClean="0"/>
              <a:t>Scikit</a:t>
            </a:r>
            <a:r>
              <a:rPr lang="en-IN" sz="2000" dirty="0" smtClean="0"/>
              <a:t>-learn</a:t>
            </a:r>
          </a:p>
          <a:p>
            <a:pPr lvl="1"/>
            <a:r>
              <a:rPr lang="en-IN" sz="2000" dirty="0" err="1"/>
              <a:t>Matplotlib</a:t>
            </a:r>
            <a:r>
              <a:rPr lang="en-IN" sz="2000" dirty="0"/>
              <a:t> / </a:t>
            </a:r>
            <a:r>
              <a:rPr lang="en-IN" sz="2000" dirty="0" err="1"/>
              <a:t>Seaborn</a:t>
            </a:r>
            <a:endParaRPr lang="en-IN" sz="2000" dirty="0"/>
          </a:p>
          <a:p>
            <a:r>
              <a:rPr lang="en-IN" sz="2000" b="1" dirty="0" smtClean="0"/>
              <a:t>Operating </a:t>
            </a:r>
            <a:r>
              <a:rPr lang="en-IN" sz="2000" b="1" dirty="0"/>
              <a:t>System:</a:t>
            </a:r>
            <a:r>
              <a:rPr lang="en-IN" sz="2000" dirty="0"/>
              <a:t> Windows / Linux / macOS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947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A9BA92-29F8-9D63-F692-786D7CDC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9619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8913177-F63E-AFE3-20DF-039DB08A3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744"/>
            <a:ext cx="10515600" cy="5052219"/>
          </a:xfrm>
        </p:spPr>
        <p:txBody>
          <a:bodyPr>
            <a:normAutofit/>
          </a:bodyPr>
          <a:lstStyle/>
          <a:p>
            <a:r>
              <a:rPr lang="en-US" sz="2000" dirty="0"/>
              <a:t>Multiple machine learning models were evaluated for loan </a:t>
            </a:r>
            <a:r>
              <a:rPr lang="en-US" sz="2000" dirty="0" smtClean="0"/>
              <a:t>prediction</a:t>
            </a:r>
          </a:p>
          <a:p>
            <a:r>
              <a:rPr lang="en-US" sz="2000" b="1" dirty="0"/>
              <a:t>Random Forest achieved the best performance</a:t>
            </a:r>
            <a:r>
              <a:rPr lang="en-US" sz="2000" dirty="0"/>
              <a:t> among all </a:t>
            </a:r>
            <a:r>
              <a:rPr lang="en-US" sz="2000" dirty="0" smtClean="0"/>
              <a:t>models</a:t>
            </a:r>
          </a:p>
          <a:p>
            <a:r>
              <a:rPr lang="en-US" sz="2000" dirty="0"/>
              <a:t>Achieved </a:t>
            </a:r>
            <a:r>
              <a:rPr lang="en-US" sz="2000" b="1" dirty="0"/>
              <a:t>high accuracy of ~98</a:t>
            </a:r>
            <a:r>
              <a:rPr lang="en-US" sz="2000" b="1" dirty="0" smtClean="0"/>
              <a:t>%</a:t>
            </a:r>
          </a:p>
          <a:p>
            <a:r>
              <a:rPr lang="en-US" sz="2000" dirty="0"/>
              <a:t>Shows </a:t>
            </a:r>
            <a:r>
              <a:rPr lang="en-US" sz="2000" b="1" dirty="0"/>
              <a:t>high precision and recall</a:t>
            </a:r>
            <a:r>
              <a:rPr lang="en-US" sz="2000" dirty="0"/>
              <a:t>, ensuring reliable </a:t>
            </a:r>
            <a:r>
              <a:rPr lang="en-US" sz="2000" dirty="0" smtClean="0"/>
              <a:t>predictions</a:t>
            </a:r>
          </a:p>
          <a:p>
            <a:r>
              <a:rPr lang="en-IN" sz="2000" b="1" dirty="0"/>
              <a:t>Minimal misclassification</a:t>
            </a:r>
            <a:r>
              <a:rPr lang="en-IN" sz="2000" dirty="0"/>
              <a:t> observed in confusion </a:t>
            </a:r>
            <a:r>
              <a:rPr lang="en-IN" sz="2000" dirty="0" smtClean="0"/>
              <a:t>matrix</a:t>
            </a:r>
          </a:p>
          <a:p>
            <a:r>
              <a:rPr lang="en-US" sz="2000" dirty="0"/>
              <a:t>System effectively predicts </a:t>
            </a:r>
            <a:r>
              <a:rPr lang="en-US" sz="2000" b="1" dirty="0"/>
              <a:t>loan approval (Approved/Rejected</a:t>
            </a:r>
            <a:r>
              <a:rPr lang="en-US" sz="2000" b="1" dirty="0" smtClean="0"/>
              <a:t>)</a:t>
            </a:r>
          </a:p>
          <a:p>
            <a:r>
              <a:rPr lang="en-IN" sz="2000" dirty="0"/>
              <a:t>Key factors influencing results</a:t>
            </a:r>
            <a:r>
              <a:rPr lang="en-IN" sz="2000" dirty="0" smtClean="0"/>
              <a:t>:</a:t>
            </a:r>
          </a:p>
          <a:p>
            <a:pPr lvl="1"/>
            <a:r>
              <a:rPr lang="en-US" sz="2000" b="1" dirty="0" err="1" smtClean="0"/>
              <a:t>Cibil</a:t>
            </a:r>
            <a:r>
              <a:rPr lang="en-US" sz="2000" b="1" dirty="0" smtClean="0"/>
              <a:t> Score</a:t>
            </a:r>
          </a:p>
          <a:p>
            <a:pPr lvl="1"/>
            <a:r>
              <a:rPr lang="en-US" sz="2000" b="1" dirty="0" smtClean="0"/>
              <a:t>Income</a:t>
            </a:r>
          </a:p>
          <a:p>
            <a:pPr lvl="1"/>
            <a:r>
              <a:rPr lang="en-US" sz="2000" b="1" dirty="0" smtClean="0"/>
              <a:t>Loan Amount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IN" sz="2200" b="1" dirty="0" smtClean="0"/>
              <a:t>	Accuracy</a:t>
            </a:r>
            <a:r>
              <a:rPr lang="en-IN" sz="2200" b="1" dirty="0"/>
              <a:t>: 98.12% | Precision: 99.35% | Recall: 95.66% | F1-score: 97.47%</a:t>
            </a:r>
          </a:p>
        </p:txBody>
      </p:sp>
    </p:spTree>
    <p:extLst>
      <p:ext uri="{BB962C8B-B14F-4D97-AF65-F5344CB8AC3E}">
        <p14:creationId xmlns:p14="http://schemas.microsoft.com/office/powerpoint/2010/main" val="1319526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526D2A2-E012-A89B-5CC5-A2374037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59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/>
          </a:p>
        </p:txBody>
      </p:sp>
      <p:pic>
        <p:nvPicPr>
          <p:cNvPr id="9" name="Content Placeholder 8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65" y="1052736"/>
            <a:ext cx="4680520" cy="331236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962270" y="4509120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Graph 1: Model Performance Comparison Across Evaluation Metrics</a:t>
            </a:r>
            <a:endParaRPr lang="en-IN" dirty="0"/>
          </a:p>
        </p:txBody>
      </p:sp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6" y="908720"/>
            <a:ext cx="4886862" cy="34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816080" y="4509120"/>
            <a:ext cx="4310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Graph </a:t>
            </a:r>
            <a:r>
              <a:rPr lang="en-IN" b="1" dirty="0" smtClean="0"/>
              <a:t>2: Confusion </a:t>
            </a:r>
            <a:r>
              <a:rPr lang="en-IN" b="1" dirty="0"/>
              <a:t>Matrix for Loan Prediction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134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9756F1-0581-D80C-530F-CBF72EF1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980728"/>
            <a:ext cx="5400600" cy="41764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775520" y="5805264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Graph3: Feature Importance Analysis for Loan Approval Prediction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68760"/>
            <a:ext cx="5602566" cy="2011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60096" y="3501008"/>
            <a:ext cx="4608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Comparison of multiple machine learning models showing Random Forest achieves the best overall performance in loan approval prediction.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07871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C09756F1-0581-D80C-530F-CBF72EF1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988840"/>
            <a:ext cx="10421804" cy="2067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35560" y="4365104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figure explains how different features influence the model’s decision, showing </a:t>
            </a:r>
            <a:r>
              <a:rPr lang="en-US" b="1" dirty="0" smtClean="0"/>
              <a:t>whether </a:t>
            </a:r>
            <a:r>
              <a:rPr lang="en-US" b="1" dirty="0"/>
              <a:t>the loan </a:t>
            </a:r>
            <a:r>
              <a:rPr lang="en-US" b="1" dirty="0" smtClean="0"/>
              <a:t>was Accepted/ Rejected</a:t>
            </a:r>
            <a:r>
              <a:rPr lang="en-US" b="1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27950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45101B-1D5F-AC19-9071-E7EA3D4B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3407"/>
            <a:ext cx="10515600" cy="165618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B3B4B79-5061-1BEA-BAAA-8E43BBB3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681" y="692696"/>
            <a:ext cx="10515600" cy="519623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sz="2000" dirty="0" smtClean="0"/>
              <a:t>Developed </a:t>
            </a:r>
            <a:r>
              <a:rPr lang="en-US" sz="2000" dirty="0"/>
              <a:t>a </a:t>
            </a:r>
            <a:r>
              <a:rPr lang="en-US" sz="2000" b="1" dirty="0"/>
              <a:t>machine learning–based loan approval system</a:t>
            </a:r>
            <a:r>
              <a:rPr lang="en-US" sz="2000" dirty="0"/>
              <a:t> for data-driven decision-making </a:t>
            </a:r>
          </a:p>
          <a:p>
            <a:pPr>
              <a:lnSpc>
                <a:spcPct val="160000"/>
              </a:lnSpc>
            </a:pPr>
            <a:r>
              <a:rPr lang="en-US" sz="2000" dirty="0"/>
              <a:t>Addressed key limitations of existing systems such as </a:t>
            </a:r>
            <a:r>
              <a:rPr lang="en-US" sz="2000" b="1" dirty="0"/>
              <a:t>inefficiency, bias, lack of scalability, and limited transparency</a:t>
            </a:r>
            <a:r>
              <a:rPr lang="en-US" sz="2000" dirty="0"/>
              <a:t> </a:t>
            </a:r>
          </a:p>
          <a:p>
            <a:pPr>
              <a:lnSpc>
                <a:spcPct val="160000"/>
              </a:lnSpc>
            </a:pPr>
            <a:r>
              <a:rPr lang="en-US" sz="2000" dirty="0"/>
              <a:t>Evaluated multiple models and identified </a:t>
            </a:r>
            <a:r>
              <a:rPr lang="en-US" sz="2000" b="1" dirty="0"/>
              <a:t>Random Forest as the best-performing algorithm (~98% accuracy)</a:t>
            </a:r>
            <a:r>
              <a:rPr lang="en-US" sz="2000" dirty="0"/>
              <a:t> </a:t>
            </a:r>
          </a:p>
          <a:p>
            <a:pPr>
              <a:lnSpc>
                <a:spcPct val="160000"/>
              </a:lnSpc>
            </a:pPr>
            <a:r>
              <a:rPr lang="en-US" sz="2000" dirty="0"/>
              <a:t>Achieved </a:t>
            </a:r>
            <a:r>
              <a:rPr lang="en-US" sz="2000" b="1" dirty="0"/>
              <a:t>high precision and recall</a:t>
            </a:r>
            <a:r>
              <a:rPr lang="en-US" sz="2000" dirty="0"/>
              <a:t>, ensuring reliable and consistent predictions </a:t>
            </a:r>
          </a:p>
          <a:p>
            <a:pPr>
              <a:lnSpc>
                <a:spcPct val="160000"/>
              </a:lnSpc>
            </a:pPr>
            <a:r>
              <a:rPr lang="en-US" sz="2000" dirty="0"/>
              <a:t>Integrated </a:t>
            </a:r>
            <a:r>
              <a:rPr lang="en-US" sz="2000" b="1" dirty="0"/>
              <a:t>Explainable AI (SHAP &amp; LIME)</a:t>
            </a:r>
            <a:r>
              <a:rPr lang="en-US" sz="2000" dirty="0"/>
              <a:t> to enhance transparency and trust </a:t>
            </a:r>
          </a:p>
          <a:p>
            <a:pPr>
              <a:lnSpc>
                <a:spcPct val="160000"/>
              </a:lnSpc>
            </a:pPr>
            <a:r>
              <a:rPr lang="en-US" sz="2000" dirty="0"/>
              <a:t>Designed a system that is </a:t>
            </a:r>
            <a:r>
              <a:rPr lang="en-US" sz="2000" b="1" dirty="0"/>
              <a:t>efficient, scalable, and suitable for real-world financial </a:t>
            </a:r>
            <a:r>
              <a:rPr lang="en-US" sz="2000" b="1" dirty="0" smtClean="0"/>
              <a:t>applications</a:t>
            </a:r>
            <a:r>
              <a:rPr lang="en-US" sz="2000" b="1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7166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C2901A-5914-5E25-7C0E-943F896AE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9619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0BFB5BC-B8FC-04A2-AF19-95D8DAE14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776"/>
            <a:ext cx="10515600" cy="4764187"/>
          </a:xfrm>
        </p:spPr>
        <p:txBody>
          <a:bodyPr>
            <a:normAutofit/>
          </a:bodyPr>
          <a:lstStyle/>
          <a:p>
            <a:r>
              <a:rPr lang="en-US" sz="2000" dirty="0"/>
              <a:t>Use </a:t>
            </a:r>
            <a:r>
              <a:rPr lang="en-US" sz="2000" b="1" dirty="0"/>
              <a:t>larger and more diverse datasets</a:t>
            </a:r>
            <a:r>
              <a:rPr lang="en-US" sz="2000" dirty="0"/>
              <a:t> for better </a:t>
            </a:r>
            <a:r>
              <a:rPr lang="en-US" sz="2000" dirty="0" smtClean="0"/>
              <a:t>accuracy</a:t>
            </a:r>
          </a:p>
          <a:p>
            <a:r>
              <a:rPr lang="en-IN" sz="2000" dirty="0"/>
              <a:t>Include additional features like</a:t>
            </a:r>
            <a:r>
              <a:rPr lang="en-IN" sz="2000" dirty="0" smtClean="0"/>
              <a:t>:</a:t>
            </a:r>
          </a:p>
          <a:p>
            <a:pPr lvl="1"/>
            <a:r>
              <a:rPr lang="en-IN" sz="2000" dirty="0"/>
              <a:t>Transaction </a:t>
            </a:r>
            <a:r>
              <a:rPr lang="en-IN" sz="2000" dirty="0" smtClean="0"/>
              <a:t>history</a:t>
            </a:r>
          </a:p>
          <a:p>
            <a:pPr lvl="1"/>
            <a:r>
              <a:rPr lang="en-IN" sz="2000" dirty="0" err="1"/>
              <a:t>Behavioral</a:t>
            </a:r>
            <a:r>
              <a:rPr lang="en-IN" sz="2000" dirty="0"/>
              <a:t> and spending </a:t>
            </a:r>
            <a:r>
              <a:rPr lang="en-IN" sz="2000" dirty="0" smtClean="0"/>
              <a:t>patterns</a:t>
            </a:r>
          </a:p>
          <a:p>
            <a:r>
              <a:rPr lang="en-US" sz="2000" dirty="0"/>
              <a:t>Explore </a:t>
            </a:r>
            <a:r>
              <a:rPr lang="en-US" sz="2000" b="1" dirty="0"/>
              <a:t>Deep Learning and Hybrid </a:t>
            </a:r>
            <a:r>
              <a:rPr lang="en-US" sz="2000" b="1" dirty="0" smtClean="0"/>
              <a:t>Models</a:t>
            </a:r>
          </a:p>
          <a:p>
            <a:r>
              <a:rPr lang="en-US" sz="2000" dirty="0"/>
              <a:t>Implement </a:t>
            </a:r>
            <a:r>
              <a:rPr lang="en-US" sz="2000" b="1" dirty="0"/>
              <a:t>real-time loan approval </a:t>
            </a:r>
            <a:r>
              <a:rPr lang="en-US" sz="2000" b="1" dirty="0" smtClean="0"/>
              <a:t>system</a:t>
            </a:r>
          </a:p>
          <a:p>
            <a:r>
              <a:rPr lang="en-US" sz="2000" dirty="0"/>
              <a:t>Enhance </a:t>
            </a:r>
            <a:r>
              <a:rPr lang="en-US" sz="2000" b="1" dirty="0"/>
              <a:t>Explainable AI techniques</a:t>
            </a:r>
            <a:r>
              <a:rPr lang="en-US" sz="2000" dirty="0"/>
              <a:t> for better </a:t>
            </a:r>
            <a:r>
              <a:rPr lang="en-US" sz="2000" dirty="0" smtClean="0"/>
              <a:t>insights</a:t>
            </a:r>
          </a:p>
          <a:p>
            <a:r>
              <a:rPr lang="en-US" sz="2000" dirty="0"/>
              <a:t>Deploy as a </a:t>
            </a:r>
            <a:r>
              <a:rPr lang="en-US" sz="2000" b="1" dirty="0"/>
              <a:t>web or mobile </a:t>
            </a:r>
            <a:r>
              <a:rPr lang="en-US" sz="2000" b="1" dirty="0" smtClean="0"/>
              <a:t>application</a:t>
            </a:r>
          </a:p>
          <a:p>
            <a:r>
              <a:rPr lang="en-US" sz="2000" dirty="0"/>
              <a:t>Integrate with </a:t>
            </a:r>
            <a:r>
              <a:rPr lang="en-US" sz="2000" b="1" dirty="0"/>
              <a:t>banking systems for live data processing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3126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EF7B42-EF2A-28F8-47E4-617FD80BD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162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669FD8-D9BD-4C93-5156-5439A384E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6752"/>
            <a:ext cx="10515600" cy="498021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dirty="0" err="1"/>
              <a:t>Purificato</a:t>
            </a:r>
            <a:r>
              <a:rPr lang="en-IN" sz="2000" dirty="0"/>
              <a:t>, E., Lorenzo, F., </a:t>
            </a:r>
            <a:r>
              <a:rPr lang="en-IN" sz="2000" dirty="0" err="1"/>
              <a:t>Fallucchi</a:t>
            </a:r>
            <a:r>
              <a:rPr lang="en-IN" sz="2000" dirty="0"/>
              <a:t>, F., &amp; De Luca, E. W. (2023</a:t>
            </a:r>
            <a:r>
              <a:rPr lang="en-IN" sz="2000" dirty="0" smtClean="0"/>
              <a:t>). </a:t>
            </a:r>
            <a:r>
              <a:rPr lang="en-IN" sz="2000" b="1" dirty="0" smtClean="0"/>
              <a:t>Responsible </a:t>
            </a:r>
            <a:r>
              <a:rPr lang="en-IN" sz="2000" b="1" dirty="0"/>
              <a:t>Artificial Intelligence in Loan Approval Processes</a:t>
            </a:r>
            <a:r>
              <a:rPr lang="en-IN" sz="2000" b="1" dirty="0" smtClean="0"/>
              <a:t>. </a:t>
            </a:r>
            <a:r>
              <a:rPr lang="en-IN" sz="2000" i="1" dirty="0" smtClean="0"/>
              <a:t>International </a:t>
            </a:r>
            <a:r>
              <a:rPr lang="en-IN" sz="2000" i="1" dirty="0"/>
              <a:t>Journal of Human–Computer Interaction</a:t>
            </a:r>
            <a:r>
              <a:rPr lang="en-IN" sz="2000" i="1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en-US" sz="2000" dirty="0" err="1"/>
              <a:t>Shrivastava</a:t>
            </a:r>
            <a:r>
              <a:rPr lang="en-US" sz="2000" dirty="0"/>
              <a:t>, V. K., et al. (2025</a:t>
            </a:r>
            <a:r>
              <a:rPr lang="en-US" sz="2000" dirty="0" smtClean="0"/>
              <a:t>). </a:t>
            </a:r>
            <a:r>
              <a:rPr lang="en-US" sz="2000" b="1" dirty="0" smtClean="0"/>
              <a:t>Enhanced </a:t>
            </a:r>
            <a:r>
              <a:rPr lang="en-US" sz="2000" b="1" dirty="0"/>
              <a:t>Bank Loan Approval Prediction using Machine Learning.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i="1" dirty="0"/>
              <a:t>AI-Driven Competitive Intelligence and Next-Generation Security</a:t>
            </a:r>
            <a:r>
              <a:rPr lang="en-US" sz="2000" i="1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en-US" sz="2000" dirty="0" err="1"/>
              <a:t>Kumari</a:t>
            </a:r>
            <a:r>
              <a:rPr lang="en-US" sz="2000" dirty="0"/>
              <a:t>, J. R., et al. (2025</a:t>
            </a:r>
            <a:r>
              <a:rPr lang="en-US" sz="2000" dirty="0" smtClean="0"/>
              <a:t>). </a:t>
            </a:r>
            <a:r>
              <a:rPr lang="en-US" sz="2000" b="1" dirty="0" smtClean="0"/>
              <a:t>Transforming </a:t>
            </a:r>
            <a:r>
              <a:rPr lang="en-US" sz="2000" b="1" dirty="0"/>
              <a:t>Loan Approval Processes using Explainable AI</a:t>
            </a:r>
            <a:r>
              <a:rPr lang="en-US" sz="2000" b="1" dirty="0" smtClean="0"/>
              <a:t>. </a:t>
            </a:r>
            <a:r>
              <a:rPr lang="en-US" sz="2000" i="1" dirty="0" smtClean="0"/>
              <a:t>International </a:t>
            </a:r>
            <a:r>
              <a:rPr lang="en-US" sz="2000" i="1" dirty="0"/>
              <a:t>Journal of Communication Networks and Information Security</a:t>
            </a:r>
            <a:r>
              <a:rPr lang="en-US" sz="2000" i="1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Singh, J., et al. (2024</a:t>
            </a:r>
            <a:r>
              <a:rPr lang="en-US" sz="2000" dirty="0" smtClean="0"/>
              <a:t>). </a:t>
            </a:r>
            <a:r>
              <a:rPr lang="en-US" sz="2000" b="1" dirty="0" smtClean="0"/>
              <a:t>AI-Driven </a:t>
            </a:r>
            <a:r>
              <a:rPr lang="en-US" sz="2000" b="1" dirty="0"/>
              <a:t>Loan Approval Model</a:t>
            </a:r>
            <a:r>
              <a:rPr lang="en-US" sz="2000" b="1" dirty="0" smtClean="0"/>
              <a:t>. </a:t>
            </a:r>
            <a:r>
              <a:rPr lang="en-US" sz="2000" i="1" dirty="0" smtClean="0"/>
              <a:t>International </a:t>
            </a:r>
            <a:r>
              <a:rPr lang="en-US" sz="2000" i="1" dirty="0"/>
              <a:t>Conference on Smart Computing and Informatics</a:t>
            </a:r>
            <a:r>
              <a:rPr lang="en-US" sz="2000" i="1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en-US" sz="2000" dirty="0" err="1"/>
              <a:t>Salaheldin</a:t>
            </a:r>
            <a:r>
              <a:rPr lang="en-US" sz="2000" dirty="0"/>
              <a:t>, Y., et al. (2025</a:t>
            </a:r>
            <a:r>
              <a:rPr lang="en-US" sz="2000" dirty="0" smtClean="0"/>
              <a:t>). </a:t>
            </a:r>
            <a:r>
              <a:rPr lang="en-US" sz="2000" b="1" dirty="0" smtClean="0"/>
              <a:t>Data-Driven </a:t>
            </a:r>
            <a:r>
              <a:rPr lang="en-US" sz="2000" b="1" dirty="0"/>
              <a:t>Model for Loan Approval Prediction using Machine Learning.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i="1" dirty="0"/>
              <a:t>ERU Research Journal.</a:t>
            </a:r>
            <a:endParaRPr lang="nn-NO" sz="2000" dirty="0"/>
          </a:p>
        </p:txBody>
      </p:sp>
    </p:spTree>
    <p:extLst>
      <p:ext uri="{BB962C8B-B14F-4D97-AF65-F5344CB8AC3E}">
        <p14:creationId xmlns:p14="http://schemas.microsoft.com/office/powerpoint/2010/main" val="776499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14600"/>
            <a:ext cx="8229600" cy="1143000"/>
          </a:xfrm>
        </p:spPr>
        <p:txBody>
          <a:bodyPr>
            <a:no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en-IN" sz="9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9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377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 abstract presentation</Template>
  <TotalTime>912</TotalTime>
  <Words>1518</Words>
  <Application>Microsoft Office PowerPoint</Application>
  <PresentationFormat>Widescreen</PresentationFormat>
  <Paragraphs>222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Tahoma</vt:lpstr>
      <vt:lpstr>Times New Roman</vt:lpstr>
      <vt:lpstr>Wingdings</vt:lpstr>
      <vt:lpstr>Office Theme</vt:lpstr>
      <vt:lpstr>A Project presentation  on AN EXPLAINABLE ENSEMBLE LEARNING MODEL FOR ROBUST LOAN APPROVAL SYSTEM </vt:lpstr>
      <vt:lpstr>Contents</vt:lpstr>
      <vt:lpstr>Abstract</vt:lpstr>
      <vt:lpstr>Introduction</vt:lpstr>
      <vt:lpstr>Introduction</vt:lpstr>
      <vt:lpstr>Introduction</vt:lpstr>
      <vt:lpstr>PowerPoint Presentation</vt:lpstr>
      <vt:lpstr>PowerPoint Presentation</vt:lpstr>
      <vt:lpstr>Problem Statement</vt:lpstr>
      <vt:lpstr>Objectives</vt:lpstr>
      <vt:lpstr>                                  Existing Methodologies</vt:lpstr>
      <vt:lpstr>Existing Methodology Drawbacks</vt:lpstr>
      <vt:lpstr>Proposed Methodology </vt:lpstr>
      <vt:lpstr>Modules Explanation</vt:lpstr>
      <vt:lpstr>Modules Explanation</vt:lpstr>
      <vt:lpstr>Hardware &amp; Software Specifications</vt:lpstr>
      <vt:lpstr>PowerPoint Presentation</vt:lpstr>
      <vt:lpstr>Results</vt:lpstr>
      <vt:lpstr>Results</vt:lpstr>
      <vt:lpstr>Results</vt:lpstr>
      <vt:lpstr>Results</vt:lpstr>
      <vt:lpstr>Conclusion</vt:lpstr>
      <vt:lpstr>Future Work</vt:lpstr>
      <vt:lpstr>References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Project presentation  on Vision-Based Retinal Disease Analysis using Deep Learning for Healthcare Automation</dc:title>
  <dc:creator>Bharath Kumar P</dc:creator>
  <cp:lastModifiedBy>Gateway Computers</cp:lastModifiedBy>
  <cp:revision>70</cp:revision>
  <dcterms:created xsi:type="dcterms:W3CDTF">2025-12-26T06:43:45Z</dcterms:created>
  <dcterms:modified xsi:type="dcterms:W3CDTF">2026-06-12T06:07:54Z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B4E3AF8FB4D24E6FB9737CB5F85AE273_13</vt:lpwstr>
  </property>
  <property fmtid="{D5CDD505-2E9C-101B-9397-08002B2CF9AE}" pid="3" name="KSOProductBuildVer">
    <vt:lpwstr>2057-12.2.0.17119</vt:lpwstr>
  </property>
</Properties>
</file>